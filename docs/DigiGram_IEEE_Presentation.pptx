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67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594" y="6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3319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900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672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0394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23" y="-1321"/>
            <a:ext cx="9144000" cy="594360"/>
          </a:xfrm>
          <a:prstGeom prst="rect">
            <a:avLst/>
          </a:prstGeom>
          <a:solidFill>
            <a:srgbClr val="01576A"/>
          </a:solidFill>
          <a:ln w="12700">
            <a:solidFill>
              <a:srgbClr val="0157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0671" y="72762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19760" y="113243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 smtClean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J. J. </a:t>
            </a:r>
            <a:r>
              <a:rPr lang="en-US" sz="1300" dirty="0" err="1" smtClean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Magdum</a:t>
            </a:r>
            <a:r>
              <a:rPr lang="en-US" sz="1300" dirty="0" smtClean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College of Engineering, </a:t>
            </a:r>
            <a:r>
              <a:rPr lang="en-US" sz="1300" dirty="0" err="1" smtClean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Jaysingpur</a:t>
            </a:r>
            <a:r>
              <a:rPr lang="en-US" sz="1300" dirty="0" smtClean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589621"/>
            <a:ext cx="8229600" cy="7703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cap="small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DigiGram</a:t>
            </a:r>
            <a:endParaRPr lang="en-US" sz="5600" cap="small" dirty="0"/>
          </a:p>
        </p:txBody>
      </p:sp>
      <p:sp>
        <p:nvSpPr>
          <p:cNvPr id="7" name="Text 5"/>
          <p:cNvSpPr/>
          <p:nvPr/>
        </p:nvSpPr>
        <p:spPr>
          <a:xfrm>
            <a:off x="457200" y="1297005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Real-Time Digital Governance </a:t>
            </a:r>
            <a:r>
              <a:rPr lang="en-US" i="1" cap="small" dirty="0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</a:p>
          <a:p>
            <a:pPr algn="ctr"/>
            <a:r>
              <a:rPr lang="en-US" i="1" cap="small" dirty="0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Rural Panchayats in India</a:t>
            </a:r>
            <a:endParaRPr lang="en-US" sz="1800" cap="small" dirty="0"/>
          </a:p>
        </p:txBody>
      </p:sp>
      <p:sp>
        <p:nvSpPr>
          <p:cNvPr id="8" name="Shape 6"/>
          <p:cNvSpPr/>
          <p:nvPr/>
        </p:nvSpPr>
        <p:spPr>
          <a:xfrm>
            <a:off x="2743200" y="2191693"/>
            <a:ext cx="3657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530" y="2330575"/>
            <a:ext cx="1676830" cy="218118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53551" y="2265776"/>
            <a:ext cx="8229600" cy="26559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i="1" cap="small" dirty="0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i="1" cap="small" dirty="0">
              <a:solidFill>
                <a:srgbClr val="A8D8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Harish </a:t>
            </a:r>
            <a:r>
              <a:rPr lang="en-US" i="1" cap="small" dirty="0" err="1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Sharad</a:t>
            </a:r>
            <a:r>
              <a:rPr lang="en-US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cap="small" dirty="0" err="1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Hulyalkar</a:t>
            </a:r>
            <a:r>
              <a:rPr lang="en-US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algn="ctr"/>
            <a:r>
              <a:rPr lang="en-US" i="1" cap="small" dirty="0" err="1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Durvesh</a:t>
            </a:r>
            <a:r>
              <a:rPr lang="en-US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Rajesh </a:t>
            </a:r>
            <a:r>
              <a:rPr lang="en-US" i="1" cap="small" dirty="0" err="1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Nayak</a:t>
            </a:r>
            <a:r>
              <a:rPr lang="en-US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algn="ctr"/>
            <a:r>
              <a:rPr lang="en-US" i="1" cap="small" dirty="0" err="1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Prathmesh</a:t>
            </a:r>
            <a:r>
              <a:rPr lang="en-US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cap="small" dirty="0" err="1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Yuvraj</a:t>
            </a:r>
            <a:r>
              <a:rPr lang="en-US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cap="small" dirty="0" err="1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Mulik</a:t>
            </a:r>
            <a:r>
              <a:rPr lang="en-US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algn="ctr"/>
            <a:r>
              <a:rPr lang="en-US" i="1" cap="small" dirty="0" err="1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Somnath</a:t>
            </a:r>
            <a:r>
              <a:rPr lang="en-US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cap="small" dirty="0" err="1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Yuvraj</a:t>
            </a:r>
            <a:r>
              <a:rPr lang="en-US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i="1" cap="small" dirty="0" err="1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Khade</a:t>
            </a:r>
            <a:r>
              <a:rPr lang="en-US" i="1" cap="small" dirty="0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algn="ctr"/>
            <a:endParaRPr lang="en-US" i="1" cap="small" dirty="0">
              <a:solidFill>
                <a:srgbClr val="A8D8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</a:t>
            </a:r>
          </a:p>
          <a:p>
            <a:pPr algn="ctr"/>
            <a:r>
              <a:rPr lang="en-US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</a:t>
            </a:r>
          </a:p>
          <a:p>
            <a:pPr algn="ctr"/>
            <a:r>
              <a:rPr lang="en-US" b="1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</a:t>
            </a:r>
            <a:r>
              <a:rPr lang="en-US" b="1" i="1" cap="small" dirty="0" err="1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Supriya</a:t>
            </a:r>
            <a:r>
              <a:rPr lang="en-US" b="1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S. </a:t>
            </a:r>
            <a:r>
              <a:rPr lang="en-US" b="1" i="1" cap="small" dirty="0" err="1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Chougule</a:t>
            </a:r>
            <a:endParaRPr lang="en-US" b="1" i="1" cap="small" dirty="0">
              <a:solidFill>
                <a:srgbClr val="A8D8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12" name="Picture 11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55538"/>
            <a:ext cx="423333" cy="4632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ctangle 8"/>
          <p:cNvSpPr/>
          <p:nvPr/>
        </p:nvSpPr>
        <p:spPr>
          <a:xfrm>
            <a:off x="7448996" y="1877115"/>
            <a:ext cx="1123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7"/>
            <a:ext cx="9144000" cy="594360"/>
          </a:xfrm>
          <a:prstGeom prst="rect">
            <a:avLst/>
          </a:prstGeom>
          <a:solidFill>
            <a:srgbClr val="01576A"/>
          </a:solidFill>
          <a:ln w="12700">
            <a:solidFill>
              <a:srgbClr val="0157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cap="small" dirty="0" err="1" smtClean="0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DigiGram</a:t>
            </a:r>
            <a:r>
              <a:rPr lang="en-US" sz="1100" i="1" cap="small" dirty="0" smtClean="0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Presentation </a:t>
            </a:r>
            <a:r>
              <a:rPr lang="en-US" sz="1100" i="1" cap="small" dirty="0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| 2026</a:t>
            </a:r>
            <a:endParaRPr lang="en-US" sz="1100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9496" y="10515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J. J. Magdum College of Engineering, Jaysingpur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" y="192193"/>
            <a:ext cx="2976880" cy="2099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DigiGram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608074"/>
            <a:ext cx="8229600" cy="27311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i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extremely </a:t>
            </a:r>
            <a:r>
              <a:rPr lang="en-US" i="1" dirty="0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grateful for </a:t>
            </a:r>
            <a:r>
              <a:rPr lang="en-US" i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and kind suggestions during all phases of our project </a:t>
            </a:r>
            <a:r>
              <a:rPr lang="en-US" i="1" dirty="0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work. Encouraging </a:t>
            </a:r>
            <a:r>
              <a:rPr lang="en-US" i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attitude and continuous support were the biggest motivation in completing this </a:t>
            </a:r>
            <a:r>
              <a:rPr lang="en-US" i="1" dirty="0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</a:t>
            </a:r>
            <a:r>
              <a:rPr lang="en-US" i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r>
              <a:rPr lang="en-US" i="1" dirty="0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</a:t>
            </a:r>
            <a:endParaRPr lang="en-US" i="1" dirty="0">
              <a:solidFill>
                <a:srgbClr val="A8D8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i="1" dirty="0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</a:t>
            </a:r>
            <a:r>
              <a:rPr lang="en-US" i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thankful to the Head of Department, Principal and Institute Management for providing necessary facilities for completion of this </a:t>
            </a:r>
            <a:r>
              <a:rPr lang="en-US" i="1" dirty="0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</a:t>
            </a:r>
            <a:r>
              <a:rPr lang="en-US" i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work.</a:t>
            </a:r>
          </a:p>
          <a:p>
            <a:pPr algn="ctr"/>
            <a:r>
              <a:rPr lang="en-US" i="1" dirty="0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</a:t>
            </a:r>
            <a:r>
              <a:rPr lang="en-US" i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all the persons who have guided and helped </a:t>
            </a:r>
            <a:r>
              <a:rPr lang="en-US" i="1" dirty="0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</a:t>
            </a:r>
            <a:r>
              <a:rPr lang="en-US" i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or indirectly</a:t>
            </a:r>
          </a:p>
        </p:txBody>
      </p:sp>
      <p:sp>
        <p:nvSpPr>
          <p:cNvPr id="8" name="Shape 6"/>
          <p:cNvSpPr/>
          <p:nvPr/>
        </p:nvSpPr>
        <p:spPr>
          <a:xfrm>
            <a:off x="2743200" y="3302677"/>
            <a:ext cx="36576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Harish Sharad Hulyalkar  |  Durvesh Rajesh Nayak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Prathmesh Yuvraj Mulik  |  Somnath Yuvraj Khade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77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r>
              <a:rPr lang="en-US" sz="1100" b="1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S. S. Chougule  </a:t>
            </a:r>
            <a:r>
              <a:rPr lang="en-US" sz="11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Dept. of Computer Science &amp; Engineering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4389120"/>
            <a:ext cx="2743200" cy="41148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43891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Kasbe Digraj Gram Panchayat, Sangli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53085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637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~250,000 Gram Panchayats serve 800M+ rural citizens — yet most still run on paper, causing systemic service failures.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60020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600200"/>
            <a:ext cx="2697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7373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🚧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23774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Access Inequality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971800"/>
            <a:ext cx="248716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digital channels for certificates, complaints, or scheme discovery — forcing citizens to visit offices in person.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160020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600200"/>
            <a:ext cx="2697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7373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91840" y="23774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Opacity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10128" y="2971800"/>
            <a:ext cx="248716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visibility into request status. No tracking means repeated visits and eroded public trust.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1600200"/>
            <a:ext cx="269748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600200"/>
            <a:ext cx="269748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737360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72200" y="23774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Prioritisation Failure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90488" y="2971800"/>
            <a:ext cx="2487168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issues (contaminated water, road hazards) handled same as routine requests — no urgency differentiation.</a:t>
            </a:r>
            <a:endParaRPr lang="en-US" sz="1150" dirty="0"/>
          </a:p>
        </p:txBody>
      </p:sp>
      <p:sp>
        <p:nvSpPr>
          <p:cNvPr id="21" name="Text 2"/>
          <p:cNvSpPr/>
          <p:nvPr/>
        </p:nvSpPr>
        <p:spPr>
          <a:xfrm>
            <a:off x="6299200" y="81281"/>
            <a:ext cx="275674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i="1" cap="small" dirty="0" err="1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DigiGram</a:t>
            </a:r>
            <a:r>
              <a:rPr lang="en-US" sz="1100" i="1" cap="small" dirty="0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Presentation |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"/>
            <a:ext cx="9144000" cy="685800"/>
          </a:xfrm>
          <a:prstGeom prst="rect">
            <a:avLst/>
          </a:prstGeom>
          <a:solidFill>
            <a:srgbClr val="01576A"/>
          </a:solidFill>
          <a:ln w="12700">
            <a:solidFill>
              <a:srgbClr val="0157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— DigiGram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50" i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full-stack, role-stratified digital governance platform purpose-built for Kasbe Digraj GP, Sangli district — designed to serve 15,000+ citizens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06040" cy="1463040"/>
          </a:xfrm>
          <a:prstGeom prst="rect">
            <a:avLst/>
          </a:prstGeom>
          <a:solidFill>
            <a:srgbClr val="0D3057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45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1305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Registration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media + AI priority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508760"/>
            <a:ext cx="2606040" cy="1463040"/>
          </a:xfrm>
          <a:prstGeom prst="rect">
            <a:avLst/>
          </a:prstGeom>
          <a:solidFill>
            <a:srgbClr val="0D3057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645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37560" y="21305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Certificates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37560" y="25146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types + QR verification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35040" y="1508760"/>
            <a:ext cx="2606040" cy="1463040"/>
          </a:xfrm>
          <a:prstGeom prst="rect">
            <a:avLst/>
          </a:prstGeom>
          <a:solidFill>
            <a:srgbClr val="0D3057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6459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26480" y="213055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Management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126480" y="25146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House, water &amp; electricity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2606040" cy="1463040"/>
          </a:xfrm>
          <a:prstGeom prst="rect">
            <a:avLst/>
          </a:prstGeom>
          <a:solidFill>
            <a:srgbClr val="0D3057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🏛️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38221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Govt. Schemes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2062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&amp; apply online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3200400"/>
            <a:ext cx="2606040" cy="1463040"/>
          </a:xfrm>
          <a:prstGeom prst="rect">
            <a:avLst/>
          </a:prstGeom>
          <a:solidFill>
            <a:srgbClr val="0D3057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46120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37560" y="38221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337560" y="42062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Gemini-powered, no login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3200400"/>
            <a:ext cx="2606040" cy="1463040"/>
          </a:xfrm>
          <a:prstGeom prst="rect">
            <a:avLst/>
          </a:prstGeom>
          <a:solidFill>
            <a:srgbClr val="0D3057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33375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26480" y="3822192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26480" y="42062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+ audit logs</a:t>
            </a:r>
            <a:endParaRPr lang="en-US" sz="1050" dirty="0"/>
          </a:p>
        </p:txBody>
      </p:sp>
      <p:sp>
        <p:nvSpPr>
          <p:cNvPr id="29" name="Text 2"/>
          <p:cNvSpPr/>
          <p:nvPr/>
        </p:nvSpPr>
        <p:spPr>
          <a:xfrm>
            <a:off x="6285653" y="91610"/>
            <a:ext cx="275674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i="1" cap="small" dirty="0" err="1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DigiGram</a:t>
            </a:r>
            <a:r>
              <a:rPr lang="en-US" sz="1100" i="1" cap="small" dirty="0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Presentation |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4-Layer System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7498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5097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926080" y="969264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•  Tailwind CSS  •  Vite  •  Recharts  •  Leaflet.js  •  Axios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841248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385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26080" y="1956816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3.x (Java 17)  •  Firebase Auth Middleware  •  REST Controllers  •  Audit Service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889504"/>
            <a:ext cx="8412480" cy="749808"/>
          </a:xfrm>
          <a:prstGeom prst="rect">
            <a:avLst/>
          </a:prstGeom>
          <a:solidFill>
            <a:srgbClr val="02A896"/>
          </a:solidFill>
          <a:ln w="12700">
            <a:solidFill>
              <a:srgbClr val="02A896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9260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 Layer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926080" y="2944368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 •  TF-IDF (3K features, n-gram 1–3)  •  Ensemble (LR + RF + GB + SVM)  •  &lt;50ms latency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877056"/>
            <a:ext cx="8412480" cy="7498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913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 Layer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926080" y="3931920"/>
            <a:ext cx="5669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 •  Cloudinary (media)  •  Supabase (PDFs)  •  Real-time onSnapshot listeners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External: Firebase OTP Auth  •  Google Gemini API  •  Open-Meteo  •  MSCB Payment Gateway  •  Leaflet / OpenStreetMap</a:t>
            </a:r>
            <a:endParaRPr lang="en-US" sz="1050" dirty="0"/>
          </a:p>
        </p:txBody>
      </p:sp>
      <p:sp>
        <p:nvSpPr>
          <p:cNvPr id="18" name="Text 2"/>
          <p:cNvSpPr/>
          <p:nvPr/>
        </p:nvSpPr>
        <p:spPr>
          <a:xfrm>
            <a:off x="6285653" y="91610"/>
            <a:ext cx="275674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i="1" cap="small" dirty="0" err="1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DigiGram</a:t>
            </a:r>
            <a:r>
              <a:rPr lang="en-US" sz="1100" i="1" cap="small" dirty="0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Presentation | 2026</a:t>
            </a:r>
            <a:endParaRPr lang="en-US" sz="1100" i="1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Platform Features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05256"/>
            <a:ext cx="8412480" cy="438912"/>
          </a:xfrm>
          <a:prstGeom prst="rect">
            <a:avLst/>
          </a:prstGeom>
          <a:solidFill>
            <a:srgbClr val="EBF4F6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144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Firebase OTP login for citizens  |  Email-password for admins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408176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173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GPS-tagged complaints with photo/video evidence upload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911096"/>
            <a:ext cx="8412480" cy="438912"/>
          </a:xfrm>
          <a:prstGeom prst="rect">
            <a:avLst/>
          </a:prstGeom>
          <a:solidFill>
            <a:srgbClr val="EBF4F6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 ML auto-assigns HIGH / MEDIUM / LOW priority on submission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414016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23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QR-code embedded certificates — verifiable </a:t>
            </a:r>
            <a:r>
              <a:rPr lang="en-US" sz="1250" dirty="0" smtClean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panchayat account or  </a:t>
            </a: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third party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2916936"/>
            <a:ext cx="8412480" cy="438912"/>
          </a:xfrm>
          <a:prstGeom prst="rect">
            <a:avLst/>
          </a:prstGeom>
          <a:solidFill>
            <a:srgbClr val="EBF4F6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9260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Real-time status updates via Firestore onSnapshot listeners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3419856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290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Analytics: complaint volume, certificate types, revenue trends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922776"/>
            <a:ext cx="8412480" cy="438912"/>
          </a:xfrm>
          <a:prstGeom prst="rect">
            <a:avLst/>
          </a:prstGeom>
          <a:solidFill>
            <a:srgbClr val="EBF4F6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319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 Interactive village map (Leaflet.js) with infrastructure layers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4425696"/>
            <a:ext cx="8412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4348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</a:t>
            </a:r>
            <a:r>
              <a:rPr lang="en-US" sz="1250" dirty="0" smtClean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Gemini </a:t>
            </a: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— </a:t>
            </a:r>
            <a:r>
              <a:rPr lang="en-US" sz="1250" dirty="0" smtClean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Marathi/English</a:t>
            </a:r>
            <a:r>
              <a:rPr lang="en-US" sz="12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login required</a:t>
            </a:r>
            <a:endParaRPr lang="en-US" sz="1250" dirty="0"/>
          </a:p>
        </p:txBody>
      </p:sp>
      <p:sp>
        <p:nvSpPr>
          <p:cNvPr id="21" name="Text 2"/>
          <p:cNvSpPr/>
          <p:nvPr/>
        </p:nvSpPr>
        <p:spPr>
          <a:xfrm>
            <a:off x="6285653" y="91610"/>
            <a:ext cx="275674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i="1" cap="small" dirty="0" err="1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DigiGram</a:t>
            </a:r>
            <a:r>
              <a:rPr lang="en-US" sz="1100" i="1" cap="small" dirty="0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Presentation | 2026</a:t>
            </a:r>
            <a:endParaRPr lang="en-US" sz="1100" i="1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576A"/>
          </a:solidFill>
          <a:ln w="12700">
            <a:solidFill>
              <a:srgbClr val="0157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Core — Ensemble ML Complaint Prioritisation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1508760" cy="1463040"/>
          </a:xfrm>
          <a:prstGeom prst="rect">
            <a:avLst/>
          </a:prstGeom>
          <a:solidFill>
            <a:srgbClr val="0D3057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896112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Input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73736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complaint description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234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965960" y="868680"/>
            <a:ext cx="1508760" cy="1463040"/>
          </a:xfrm>
          <a:prstGeom prst="rect">
            <a:avLst/>
          </a:prstGeom>
          <a:solidFill>
            <a:srgbClr val="0D3057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896112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13898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11680" y="173736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stopword removal, tokenise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474720" y="1234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703320" y="868680"/>
            <a:ext cx="1508760" cy="1463040"/>
          </a:xfrm>
          <a:prstGeom prst="rect">
            <a:avLst/>
          </a:prstGeom>
          <a:solidFill>
            <a:srgbClr val="0D3057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24528" y="896112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24528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13898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49040" y="173736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features, n-gram [1–3]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1234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440680" y="868680"/>
            <a:ext cx="1508760" cy="1463040"/>
          </a:xfrm>
          <a:prstGeom prst="rect">
            <a:avLst/>
          </a:prstGeom>
          <a:solidFill>
            <a:srgbClr val="0D3057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61888" y="896112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61888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13898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0" y="173736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+ RF + GB + SVM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Voting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123444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2C39A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178040" y="868680"/>
            <a:ext cx="1508760" cy="1463040"/>
          </a:xfrm>
          <a:prstGeom prst="rect">
            <a:avLst/>
          </a:prstGeom>
          <a:solidFill>
            <a:srgbClr val="0D3057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699248" y="896112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99248" y="896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223760" y="138988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173736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/ MEDIUM / LOW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 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2468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5-Fold Cross Validation (N = 480 samples)</a:t>
            </a:r>
            <a:endParaRPr lang="en-US" sz="13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880360"/>
          <a:ext cx="7498080" cy="196596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280160"/>
                <a:gridCol w="1280160"/>
                <a:gridCol w="1280160"/>
              </a:tblGrid>
              <a:tr h="327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576A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(Linear)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D6F0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057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(Soft Vote) 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83.4%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5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</a:tbl>
          </a:graphicData>
        </a:graphic>
      </p:graphicFrame>
      <p:sp>
        <p:nvSpPr>
          <p:cNvPr id="35" name="Text 2"/>
          <p:cNvSpPr/>
          <p:nvPr/>
        </p:nvSpPr>
        <p:spPr>
          <a:xfrm>
            <a:off x="6285653" y="91610"/>
            <a:ext cx="275674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i="1" cap="small" dirty="0" err="1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DigiGram</a:t>
            </a:r>
            <a:r>
              <a:rPr lang="en-US" sz="1100" i="1" cap="small" dirty="0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Presentation | 2026</a:t>
            </a:r>
            <a:endParaRPr lang="en-US" sz="1100" i="1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Workflow — End to End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1325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914400"/>
            <a:ext cx="13258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0584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10896" y="1499616"/>
            <a:ext cx="1216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 Homepage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10896" y="1984248"/>
            <a:ext cx="1216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info, chatbot, map — no login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81912" y="15087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719072" y="914400"/>
            <a:ext cx="1325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19072" y="914400"/>
            <a:ext cx="13258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19072" y="100584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773936" y="1499616"/>
            <a:ext cx="1216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Login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73936" y="1984248"/>
            <a:ext cx="1216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phone auth — 7-day session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44952" y="15087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182112" y="914400"/>
            <a:ext cx="1325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82112" y="914400"/>
            <a:ext cx="13258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100584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236976" y="1499616"/>
            <a:ext cx="1216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Profile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36976" y="1984248"/>
            <a:ext cx="1216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completion required for services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07992" y="15087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45152" y="914400"/>
            <a:ext cx="1325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45152" y="914400"/>
            <a:ext cx="13258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45152" y="100584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700016" y="1499616"/>
            <a:ext cx="1216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Complaint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0016" y="1984248"/>
            <a:ext cx="1216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+ media + ML priority in &lt;120ms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971032" y="15087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08192" y="914400"/>
            <a:ext cx="1325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08192" y="914400"/>
            <a:ext cx="13258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08192" y="100584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⏳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6163056" y="1499616"/>
            <a:ext cx="1216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63056" y="1984248"/>
            <a:ext cx="1216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listener — instant updates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434072" y="1508760"/>
            <a:ext cx="137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8090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571232" y="914400"/>
            <a:ext cx="13258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571232" y="914400"/>
            <a:ext cx="132588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71232" y="1005840"/>
            <a:ext cx="1325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626096" y="1499616"/>
            <a:ext cx="1216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626096" y="1984248"/>
            <a:ext cx="1216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 notified automatically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3063240"/>
            <a:ext cx="3931920" cy="1737360"/>
          </a:xfrm>
          <a:prstGeom prst="rect">
            <a:avLst/>
          </a:prstGeom>
          <a:solidFill>
            <a:srgbClr val="0D3057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02920" y="3154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2920" y="35204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Complaint triage with ML priority labels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Certificate approval + document viewer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Tax ledger with CSV/PDF export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audit log of all admin actions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846320" y="3063240"/>
            <a:ext cx="3931920" cy="1737360"/>
          </a:xfrm>
          <a:prstGeom prst="rect">
            <a:avLst/>
          </a:prstGeom>
          <a:solidFill>
            <a:srgbClr val="0D3057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983480" y="31546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983480" y="352044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Firebase ID token on every API call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access: CITIZEN / ADMIN / SUPER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Cloudinary upload-only presets (scoped keys)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CORS restricted to registered frontend origin</a:t>
            </a:r>
            <a:endParaRPr lang="en-US" sz="1100" dirty="0"/>
          </a:p>
        </p:txBody>
      </p:sp>
      <p:sp>
        <p:nvSpPr>
          <p:cNvPr id="46" name="Text 2"/>
          <p:cNvSpPr/>
          <p:nvPr/>
        </p:nvSpPr>
        <p:spPr>
          <a:xfrm>
            <a:off x="6285653" y="91610"/>
            <a:ext cx="275674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i="1" cap="small" dirty="0" err="1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DigiGram</a:t>
            </a:r>
            <a:r>
              <a:rPr lang="en-US" sz="1100" i="1" cap="small" dirty="0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Presentation | 2026</a:t>
            </a:r>
            <a:endParaRPr lang="en-US" sz="1100" i="1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14400"/>
            <a:ext cx="2011680" cy="4754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" y="1453896"/>
            <a:ext cx="1792224" cy="530352"/>
          </a:xfrm>
          <a:prstGeom prst="rect">
            <a:avLst/>
          </a:prstGeom>
          <a:solidFill>
            <a:srgbClr val="EBF4F6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087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 +  Vite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075688"/>
            <a:ext cx="179222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305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9768" y="2697480"/>
            <a:ext cx="1792224" cy="530352"/>
          </a:xfrm>
          <a:prstGeom prst="rect">
            <a:avLst/>
          </a:prstGeom>
          <a:solidFill>
            <a:srgbClr val="EBF4F6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523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9768" y="3319272"/>
            <a:ext cx="179222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7413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 |  Leaflet.js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9768" y="3941064"/>
            <a:ext cx="1792224" cy="530352"/>
          </a:xfrm>
          <a:prstGeom prst="rect">
            <a:avLst/>
          </a:prstGeom>
          <a:solidFill>
            <a:srgbClr val="EBF4F6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959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(HTTP client)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68880" y="91440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68880" y="914400"/>
            <a:ext cx="201168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68880" y="9144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2578608" y="1453896"/>
            <a:ext cx="1792224" cy="530352"/>
          </a:xfrm>
          <a:prstGeom prst="rect">
            <a:avLst/>
          </a:prstGeom>
          <a:solidFill>
            <a:srgbClr val="EBF4F6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15087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3.x (Java 17)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78608" y="2075688"/>
            <a:ext cx="179222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06040" y="21305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Admin SDK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78608" y="2697480"/>
            <a:ext cx="1792224" cy="530352"/>
          </a:xfrm>
          <a:prstGeom prst="rect">
            <a:avLst/>
          </a:prstGeom>
          <a:solidFill>
            <a:srgbClr val="EBF4F6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06040" y="27523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REST Controllers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78608" y="3319272"/>
            <a:ext cx="179222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06040" y="337413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iTextPDF  +  ZXing QR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78608" y="3941064"/>
            <a:ext cx="1792224" cy="530352"/>
          </a:xfrm>
          <a:prstGeom prst="rect">
            <a:avLst/>
          </a:prstGeom>
          <a:solidFill>
            <a:srgbClr val="EBF4F6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39959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</a:t>
            </a: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smtClean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17720" y="91440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17720" y="914400"/>
            <a:ext cx="2011680" cy="475488"/>
          </a:xfrm>
          <a:prstGeom prst="rect">
            <a:avLst/>
          </a:prstGeom>
          <a:solidFill>
            <a:srgbClr val="02A896"/>
          </a:solidFill>
          <a:ln w="12700">
            <a:solidFill>
              <a:srgbClr val="02A8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9144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Microservice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727448" y="1453896"/>
            <a:ext cx="1792224" cy="530352"/>
          </a:xfrm>
          <a:prstGeom prst="rect">
            <a:avLst/>
          </a:prstGeom>
          <a:solidFill>
            <a:srgbClr val="EBF4F6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15087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27448" y="2075688"/>
            <a:ext cx="179222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1305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Pipeline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27448" y="2697480"/>
            <a:ext cx="1792224" cy="530352"/>
          </a:xfrm>
          <a:prstGeom prst="rect">
            <a:avLst/>
          </a:prstGeom>
          <a:solidFill>
            <a:srgbClr val="EBF4F6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27523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27448" y="3319272"/>
            <a:ext cx="179222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37413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Ensemble: LR+RF+GB+SVM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27448" y="3941064"/>
            <a:ext cx="1792224" cy="530352"/>
          </a:xfrm>
          <a:prstGeom prst="rect">
            <a:avLst/>
          </a:prstGeom>
          <a:solidFill>
            <a:srgbClr val="EBF4F6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39959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 &lt;50ms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66560" y="91440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766560" y="914400"/>
            <a:ext cx="2011680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0" y="91440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Storage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6876288" y="1453896"/>
            <a:ext cx="1792224" cy="530352"/>
          </a:xfrm>
          <a:prstGeom prst="rect">
            <a:avLst/>
          </a:prstGeom>
          <a:solidFill>
            <a:srgbClr val="EBF4F6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03720" y="150876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 (NoSQL)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876288" y="2075688"/>
            <a:ext cx="179222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03720" y="213055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Cloudinary (media)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876288" y="2697480"/>
            <a:ext cx="1792224" cy="530352"/>
          </a:xfrm>
          <a:prstGeom prst="rect">
            <a:avLst/>
          </a:prstGeom>
          <a:solidFill>
            <a:srgbClr val="EBF4F6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03720" y="2752344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(PDFs)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876288" y="3319272"/>
            <a:ext cx="179222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03720" y="3374136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(OTP)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876288" y="3941064"/>
            <a:ext cx="1792224" cy="530352"/>
          </a:xfrm>
          <a:prstGeom prst="rect">
            <a:avLst/>
          </a:prstGeom>
          <a:solidFill>
            <a:srgbClr val="EBF4F6"/>
          </a:solidFill>
          <a:ln w="12700">
            <a:solidFill>
              <a:srgbClr val="E0F0F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03720" y="3995928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listeners</a:t>
            </a:r>
            <a:endParaRPr lang="en-US" sz="1050" dirty="0"/>
          </a:p>
        </p:txBody>
      </p:sp>
      <p:sp>
        <p:nvSpPr>
          <p:cNvPr id="57" name="Text 2"/>
          <p:cNvSpPr/>
          <p:nvPr/>
        </p:nvSpPr>
        <p:spPr>
          <a:xfrm>
            <a:off x="6285653" y="91610"/>
            <a:ext cx="275674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i="1" cap="small" dirty="0" err="1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DigiGram</a:t>
            </a:r>
            <a:r>
              <a:rPr lang="en-US" sz="1100" i="1" cap="small" dirty="0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Presentation | 2026</a:t>
            </a:r>
            <a:endParaRPr lang="en-US" sz="1100" i="1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1576A"/>
          </a:solidFill>
          <a:ln w="12700">
            <a:solidFill>
              <a:srgbClr val="0157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Results — 2-Month Pilot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874520" cy="1371600"/>
          </a:xfrm>
          <a:prstGeom prst="rect">
            <a:avLst/>
          </a:prstGeom>
          <a:solidFill>
            <a:srgbClr val="0D3057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</a:t>
            </a:r>
            <a:r>
              <a:rPr lang="en-US" sz="32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38912" y="164592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Registered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868680"/>
            <a:ext cx="1874520" cy="1371600"/>
          </a:xfrm>
          <a:prstGeom prst="rect">
            <a:avLst/>
          </a:prstGeom>
          <a:solidFill>
            <a:srgbClr val="0D3057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60120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smtClean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542032" y="164592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Filed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68680"/>
            <a:ext cx="1874520" cy="1371600"/>
          </a:xfrm>
          <a:prstGeom prst="rect">
            <a:avLst/>
          </a:prstGeom>
          <a:solidFill>
            <a:srgbClr val="0D3057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960120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83.4%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645152" y="164592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Accuracy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868680"/>
            <a:ext cx="1874520" cy="1371600"/>
          </a:xfrm>
          <a:prstGeom prst="rect">
            <a:avLst/>
          </a:prstGeom>
          <a:solidFill>
            <a:srgbClr val="0D3057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960120"/>
            <a:ext cx="1874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days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748272" y="1645920"/>
            <a:ext cx="1737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Resolution Time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 5–7 days)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423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Platform Performance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251960" cy="566928"/>
          </a:xfrm>
          <a:prstGeom prst="rect">
            <a:avLst/>
          </a:prstGeom>
          <a:solidFill>
            <a:srgbClr val="0D3057"/>
          </a:solidFill>
          <a:ln w="12700">
            <a:solidFill>
              <a:srgbClr val="1E5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95351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Read latency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0" y="295351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ms avg (50 VU load test)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880360"/>
            <a:ext cx="4251960" cy="566928"/>
          </a:xfrm>
          <a:prstGeom prst="rect">
            <a:avLst/>
          </a:prstGeom>
          <a:solidFill>
            <a:srgbClr val="0D3057"/>
          </a:solidFill>
          <a:ln w="12700">
            <a:solidFill>
              <a:srgbClr val="1E5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95351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Write latency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295351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 ms avg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4251960" cy="566928"/>
          </a:xfrm>
          <a:prstGeom prst="rect">
            <a:avLst/>
          </a:prstGeom>
          <a:solidFill>
            <a:srgbClr val="0D3057"/>
          </a:solidFill>
          <a:ln w="12700">
            <a:solidFill>
              <a:srgbClr val="1E50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63931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dashboard query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0" y="363931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ms avg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566160"/>
            <a:ext cx="4251960" cy="566928"/>
          </a:xfrm>
          <a:prstGeom prst="rect">
            <a:avLst/>
          </a:prstGeom>
          <a:solidFill>
            <a:srgbClr val="0D3057"/>
          </a:solidFill>
          <a:ln w="12700">
            <a:solidFill>
              <a:srgbClr val="1E5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363931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inference (Flask)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363931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120 ms per complaint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251960"/>
            <a:ext cx="4251960" cy="566928"/>
          </a:xfrm>
          <a:prstGeom prst="rect">
            <a:avLst/>
          </a:prstGeom>
          <a:solidFill>
            <a:srgbClr val="0D3057"/>
          </a:solidFill>
          <a:ln w="12700">
            <a:solidFill>
              <a:srgbClr val="1E50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432511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queries served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560320" y="432511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 unique — zero downtime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4251960"/>
            <a:ext cx="4251960" cy="566928"/>
          </a:xfrm>
          <a:prstGeom prst="rect">
            <a:avLst/>
          </a:prstGeom>
          <a:solidFill>
            <a:srgbClr val="0D3057"/>
          </a:solidFill>
          <a:ln w="12700">
            <a:solidFill>
              <a:srgbClr val="1E50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4325112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 approved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4325112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6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of 64 applications (digital)</a:t>
            </a:r>
            <a:endParaRPr lang="en-US" sz="1100" dirty="0"/>
          </a:p>
        </p:txBody>
      </p:sp>
      <p:sp>
        <p:nvSpPr>
          <p:cNvPr id="35" name="Text 2"/>
          <p:cNvSpPr/>
          <p:nvPr/>
        </p:nvSpPr>
        <p:spPr>
          <a:xfrm>
            <a:off x="6285653" y="91610"/>
            <a:ext cx="275674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i="1" cap="small" dirty="0" err="1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DigiGram</a:t>
            </a:r>
            <a:r>
              <a:rPr lang="en-US" sz="1100" i="1" cap="small" dirty="0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Presentation | 2026</a:t>
            </a:r>
            <a:endParaRPr lang="en-US" sz="1100" i="1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DigiGram vs. Existing Platforms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397764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71600"/>
                <a:gridCol w="1371600"/>
                <a:gridCol w="1737360"/>
              </a:tblGrid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GPAS (MH)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eSeva (AP)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NIC eGP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DigiGram 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C39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Citizen OTP Login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Firebase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Firestore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Complaint Priority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Ensemble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QR Certificate PDF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Public Chatbot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Gemini API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Map Module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Leaflet.js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Responsive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Full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285653" y="91610"/>
            <a:ext cx="275674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400" i="1" cap="small" dirty="0" err="1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DigiGram</a:t>
            </a:r>
            <a:r>
              <a:rPr lang="en-US" sz="1400" i="1" cap="small" dirty="0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Presentation | 2026</a:t>
            </a:r>
            <a:endParaRPr lang="en-US" sz="1400" i="1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E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14400"/>
            <a:ext cx="4023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14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37490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Full-stack civic platform deployed for real GP (15K+ citizens)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Ensemble ML — 83.4% accuracy, &lt;120ms inference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Firestore updates — sub-second propagation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QR-embedded certificates for fraud-proof verification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Gemini AI chatbot — multilingual, no login required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Average resolution time cut from </a:t>
            </a: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r>
              <a:rPr lang="en-US" sz="1150" dirty="0" smtClean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–7 </a:t>
            </a: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→ 2.1 days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Modular microservice architecture — independently scalable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0D3057"/>
          </a:solidFill>
          <a:ln w="12700">
            <a:solidFill>
              <a:srgbClr val="028090"/>
            </a:solidFill>
            <a:prstDash val="solid"/>
          </a:ln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4023360" cy="384048"/>
          </a:xfrm>
          <a:prstGeom prst="rect">
            <a:avLst/>
          </a:prstGeom>
          <a:solidFill>
            <a:srgbClr val="01576A"/>
          </a:solidFill>
          <a:ln w="12700">
            <a:solidFill>
              <a:srgbClr val="0157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14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389888"/>
            <a:ext cx="374904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50" dirty="0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with </a:t>
            </a:r>
            <a:r>
              <a:rPr lang="en-US" sz="1150" dirty="0" err="1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DigiLocker</a:t>
            </a:r>
            <a:endParaRPr lang="en-US" sz="1150" dirty="0" smtClean="0">
              <a:solidFill>
                <a:srgbClr val="A8D8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spcAft>
                <a:spcPts val="500"/>
              </a:spcAft>
            </a:pPr>
            <a:r>
              <a:rPr lang="en-US" sz="1150" dirty="0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Implementation of specific panchayat </a:t>
            </a:r>
            <a:r>
              <a:rPr lang="en-US" sz="1150" dirty="0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with </a:t>
            </a:r>
            <a:r>
              <a:rPr lang="en-US" sz="1150" dirty="0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.csv</a:t>
            </a:r>
          </a:p>
          <a:p>
            <a:pPr>
              <a:spcAft>
                <a:spcPts val="500"/>
              </a:spcAft>
            </a:pPr>
            <a:r>
              <a:rPr lang="en-US" sz="115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PWA offline mode for low-connectivity complaint submission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SMOTE oversampling + Marathi morphological </a:t>
            </a:r>
            <a:r>
              <a:rPr lang="en-US" sz="1150" dirty="0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50" dirty="0" err="1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Marathi voice input via Web Speech API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Multi-Panchayat tenancy with federation analytics layer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Integration with PM-JANMAN &amp; Swamitva national portals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Active learning to expand High-priority ML samples</a:t>
            </a:r>
            <a:endParaRPr lang="en-US" sz="11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Background sync for failed write operations (offline)</a:t>
            </a:r>
            <a:endParaRPr lang="en-US" sz="1150" dirty="0"/>
          </a:p>
        </p:txBody>
      </p:sp>
      <p:sp>
        <p:nvSpPr>
          <p:cNvPr id="13" name="Text 2"/>
          <p:cNvSpPr/>
          <p:nvPr/>
        </p:nvSpPr>
        <p:spPr>
          <a:xfrm>
            <a:off x="6285653" y="91610"/>
            <a:ext cx="2756747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100" i="1" cap="small" dirty="0" err="1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DigiGram</a:t>
            </a:r>
            <a:r>
              <a:rPr lang="en-US" sz="1100" i="1" cap="small" dirty="0">
                <a:solidFill>
                  <a:srgbClr val="C5E8E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Presentation | 2026</a:t>
            </a:r>
            <a:endParaRPr lang="en-US" sz="1100" i="1" cap="smal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6824"/>
            <a:ext cx="91440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85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2895600" y="3638393"/>
            <a:ext cx="36576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1791" y="-12965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DigiGram</a:t>
            </a:r>
            <a:r>
              <a:rPr lang="en-US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cap="small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r>
              <a:rPr lang="en-US" sz="1400" b="1" i="1" cap="small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Real-Time Digital Governance Platform</a:t>
            </a:r>
          </a:p>
          <a:p>
            <a:pPr algn="ctr"/>
            <a:r>
              <a:rPr lang="en-US" sz="1400" b="1" i="1" cap="small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for Rural Panchayats in India</a:t>
            </a:r>
            <a:endParaRPr lang="en-US" sz="1400" b="1" cap="small" dirty="0"/>
          </a:p>
        </p:txBody>
      </p:sp>
      <p:sp>
        <p:nvSpPr>
          <p:cNvPr id="7" name="Text 5"/>
          <p:cNvSpPr/>
          <p:nvPr/>
        </p:nvSpPr>
        <p:spPr>
          <a:xfrm>
            <a:off x="511792" y="2907385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Harish Sharad Hulyalkar  •  Durvesh Rajesh Nayak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Prathmesh Yuvraj Mulik  •  Somnath Yuvraj Khade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1792" y="392666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Mrs. S. S. </a:t>
            </a:r>
            <a:r>
              <a:rPr lang="en-US" sz="1100" dirty="0" err="1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Chougule</a:t>
            </a:r>
            <a:r>
              <a:rPr lang="en-US" sz="11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 algn="ctr">
              <a:buNone/>
            </a:pPr>
            <a:r>
              <a:rPr lang="en-US" sz="1100" dirty="0" smtClean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J. J. Magdum College of Engineering, Jaysingpur</a:t>
            </a:r>
            <a:endParaRPr lang="en-US" sz="1100" dirty="0"/>
          </a:p>
        </p:txBody>
      </p:sp>
      <p:sp>
        <p:nvSpPr>
          <p:cNvPr id="12" name="Text 4"/>
          <p:cNvSpPr/>
          <p:nvPr/>
        </p:nvSpPr>
        <p:spPr>
          <a:xfrm>
            <a:off x="609600" y="16230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400" cap="small" dirty="0"/>
          </a:p>
        </p:txBody>
      </p:sp>
      <p:sp>
        <p:nvSpPr>
          <p:cNvPr id="13" name="Text 5"/>
          <p:cNvSpPr/>
          <p:nvPr/>
        </p:nvSpPr>
        <p:spPr>
          <a:xfrm>
            <a:off x="762000" y="207359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44181"/>
            <a:ext cx="3982172" cy="194938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/>
          <a:srcRect r="35456"/>
          <a:stretch/>
        </p:blipFill>
        <p:spPr>
          <a:xfrm>
            <a:off x="4744172" y="856435"/>
            <a:ext cx="3997220" cy="1937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61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6824"/>
            <a:ext cx="91440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85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2895600" y="3638393"/>
            <a:ext cx="36576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1791" y="-12965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DigiGram</a:t>
            </a:r>
            <a:r>
              <a:rPr lang="en-US" sz="14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i="1" cap="small" dirty="0" smtClean="0"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r>
              <a:rPr lang="en-US" sz="1400" b="1" i="1" cap="small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Real-Time Digital Governance Platform</a:t>
            </a:r>
          </a:p>
          <a:p>
            <a:pPr algn="ctr"/>
            <a:r>
              <a:rPr lang="en-US" sz="1400" b="1" i="1" cap="small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for Rural Panchayats in India</a:t>
            </a:r>
            <a:endParaRPr lang="en-US" sz="1400" b="1" cap="small" dirty="0"/>
          </a:p>
        </p:txBody>
      </p:sp>
      <p:sp>
        <p:nvSpPr>
          <p:cNvPr id="7" name="Text 5"/>
          <p:cNvSpPr/>
          <p:nvPr/>
        </p:nvSpPr>
        <p:spPr>
          <a:xfrm>
            <a:off x="511792" y="2907385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Harish Sharad Hulyalkar  •  Durvesh Rajesh Nayak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Prathmesh Yuvraj Mulik  •  Somnath Yuvraj Khade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1792" y="392666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Mrs. S. S. </a:t>
            </a:r>
            <a:r>
              <a:rPr lang="en-US" sz="1100" dirty="0" err="1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Chougule</a:t>
            </a:r>
            <a:r>
              <a:rPr lang="en-US" sz="11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 algn="ctr">
              <a:buNone/>
            </a:pPr>
            <a:r>
              <a:rPr lang="en-US" sz="1100" dirty="0" smtClean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J. J. Magdum College of Engineering, Jaysingpur</a:t>
            </a:r>
            <a:endParaRPr lang="en-US" sz="1100" dirty="0"/>
          </a:p>
        </p:txBody>
      </p:sp>
      <p:sp>
        <p:nvSpPr>
          <p:cNvPr id="12" name="Text 4"/>
          <p:cNvSpPr/>
          <p:nvPr/>
        </p:nvSpPr>
        <p:spPr>
          <a:xfrm>
            <a:off x="609600" y="16230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400" cap="small" dirty="0"/>
          </a:p>
        </p:txBody>
      </p:sp>
      <p:sp>
        <p:nvSpPr>
          <p:cNvPr id="13" name="Text 5"/>
          <p:cNvSpPr/>
          <p:nvPr/>
        </p:nvSpPr>
        <p:spPr>
          <a:xfrm>
            <a:off x="762000" y="207359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r="25700"/>
          <a:stretch/>
        </p:blipFill>
        <p:spPr>
          <a:xfrm>
            <a:off x="457200" y="844490"/>
            <a:ext cx="4043680" cy="199025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718" y="855818"/>
            <a:ext cx="4201682" cy="197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5473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85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2743200" y="1874520"/>
            <a:ext cx="36576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011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i="1" dirty="0" err="1">
                <a:solidFill>
                  <a:srgbClr val="C5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DigiGram</a:t>
            </a:r>
            <a:r>
              <a:rPr lang="en-US" sz="1400" i="1" dirty="0">
                <a:solidFill>
                  <a:srgbClr val="C5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i="1" cap="small" dirty="0" smtClean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r>
              <a:rPr lang="en-US" sz="1400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Real-Time Digital Governance Platform</a:t>
            </a:r>
          </a:p>
          <a:p>
            <a:pPr algn="ctr"/>
            <a:r>
              <a:rPr lang="en-US" sz="1400" i="1" cap="small" dirty="0">
                <a:solidFill>
                  <a:srgbClr val="A8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Rural Panchayats in India</a:t>
            </a:r>
            <a:endParaRPr lang="en-US" sz="1400" cap="small" dirty="0"/>
          </a:p>
        </p:txBody>
      </p:sp>
      <p:sp>
        <p:nvSpPr>
          <p:cNvPr id="7" name="Text 5"/>
          <p:cNvSpPr/>
          <p:nvPr/>
        </p:nvSpPr>
        <p:spPr>
          <a:xfrm>
            <a:off x="457200" y="25648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Harish Sharad Hulyalkar  •  Durvesh Rajesh Nayak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Prathmesh Yuvraj Mulik  •  Somnath Yuvraj Khade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2095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Mrs. S. S. </a:t>
            </a:r>
            <a:r>
              <a:rPr lang="en-US" sz="1100" dirty="0" err="1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Chougule</a:t>
            </a:r>
            <a:r>
              <a:rPr lang="en-US" sz="11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</a:p>
          <a:p>
            <a:pPr marL="0" indent="0" algn="ctr">
              <a:buNone/>
            </a:pPr>
            <a:r>
              <a:rPr lang="en-US" sz="1100" dirty="0" smtClean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9CC5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J. J. Magdum College of Engineering, Jaysingpur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4160520"/>
            <a:ext cx="329184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41605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1363</Words>
  <Application>Microsoft Office PowerPoint</Application>
  <PresentationFormat>On-screen Show (16:9)</PresentationFormat>
  <Paragraphs>319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DigiGram IEEE Conference Presentation</dc:title>
  <dc:subject>PptxGenJS Presentation</dc:subject>
  <dc:creator>PptxGenJS</dc:creator>
  <cp:lastModifiedBy>Microsoft account</cp:lastModifiedBy>
  <cp:revision>15</cp:revision>
  <dcterms:created xsi:type="dcterms:W3CDTF">2026-04-07T02:23:40Z</dcterms:created>
  <dcterms:modified xsi:type="dcterms:W3CDTF">2026-05-04T05:47:26Z</dcterms:modified>
</cp:coreProperties>
</file>